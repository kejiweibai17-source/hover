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0A35-9952-4F85-89C0-8F766E5BC111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FE2D-6AA9-4EA5-8ABF-7F272E97E0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339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0A35-9952-4F85-89C0-8F766E5BC111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FE2D-6AA9-4EA5-8ABF-7F272E97E0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19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0A35-9952-4F85-89C0-8F766E5BC111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FE2D-6AA9-4EA5-8ABF-7F272E97E0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098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0A35-9952-4F85-89C0-8F766E5BC111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FE2D-6AA9-4EA5-8ABF-7F272E97E0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555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0A35-9952-4F85-89C0-8F766E5BC111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FE2D-6AA9-4EA5-8ABF-7F272E97E0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589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0A35-9952-4F85-89C0-8F766E5BC111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FE2D-6AA9-4EA5-8ABF-7F272E97E0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6436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0A35-9952-4F85-89C0-8F766E5BC111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FE2D-6AA9-4EA5-8ABF-7F272E97E0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927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0A35-9952-4F85-89C0-8F766E5BC111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FE2D-6AA9-4EA5-8ABF-7F272E97E0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930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0A35-9952-4F85-89C0-8F766E5BC111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FE2D-6AA9-4EA5-8ABF-7F272E97E0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601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0A35-9952-4F85-89C0-8F766E5BC111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FE2D-6AA9-4EA5-8ABF-7F272E97E0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339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0A35-9952-4F85-89C0-8F766E5BC111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FE2D-6AA9-4EA5-8ABF-7F272E97E0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88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60A35-9952-4F85-89C0-8F766E5BC111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1FE2D-6AA9-4EA5-8ABF-7F272E97E0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06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29102" y="1417969"/>
            <a:ext cx="7471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0" i="0" dirty="0" smtClean="0">
                <a:solidFill>
                  <a:srgbClr val="484848"/>
                </a:solidFill>
                <a:effectLst/>
                <a:latin typeface="Noto Sans Variable"/>
              </a:rPr>
              <a:t>_</a:t>
            </a:r>
            <a:r>
              <a:rPr lang="en-US" altLang="zh-TW" b="0" i="0" dirty="0" err="1" smtClean="0">
                <a:solidFill>
                  <a:srgbClr val="484848"/>
                </a:solidFill>
                <a:effectLst/>
                <a:latin typeface="Noto Sans Variable"/>
              </a:rPr>
              <a:t>LIPOSOMAX</a:t>
            </a:r>
            <a:r>
              <a:rPr lang="zh-TW" altLang="en-US" dirty="0" smtClean="0"/>
              <a:t> ®</a:t>
            </a:r>
            <a:r>
              <a:rPr lang="en-US" altLang="zh-TW" b="0" i="0" dirty="0" smtClean="0">
                <a:solidFill>
                  <a:srgbClr val="484848"/>
                </a:solidFill>
                <a:effectLst/>
                <a:latin typeface="Noto Sans Variable"/>
              </a:rPr>
              <a:t> </a:t>
            </a:r>
            <a:r>
              <a:rPr lang="zh-TW" altLang="en-US" b="0" i="0" dirty="0" smtClean="0">
                <a:solidFill>
                  <a:srgbClr val="484848"/>
                </a:solidFill>
                <a:effectLst/>
                <a:latin typeface="Noto Sans Variable"/>
              </a:rPr>
              <a:t>微脂體穀胱甘肽：自信魅力的核心秘密，</a:t>
            </a:r>
            <a:r>
              <a:rPr lang="en-US" altLang="zh-TW" b="0" i="0" dirty="0" err="1" smtClean="0">
                <a:solidFill>
                  <a:srgbClr val="484848"/>
                </a:solidFill>
                <a:effectLst/>
                <a:latin typeface="Noto Sans Variable"/>
              </a:rPr>
              <a:t>250mg</a:t>
            </a:r>
            <a:r>
              <a:rPr lang="zh-TW" altLang="en-US" b="0" i="0" dirty="0" smtClean="0">
                <a:solidFill>
                  <a:srgbClr val="484848"/>
                </a:solidFill>
                <a:effectLst/>
                <a:latin typeface="Noto Sans Variable"/>
              </a:rPr>
              <a:t>足量添加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926864" y="1835580"/>
            <a:ext cx="766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0" i="0" dirty="0" err="1" smtClean="0">
                <a:solidFill>
                  <a:srgbClr val="333333"/>
                </a:solidFill>
                <a:effectLst/>
                <a:latin typeface="SF Pro TC"/>
              </a:rPr>
              <a:t>Phytonoid</a:t>
            </a:r>
            <a:r>
              <a:rPr lang="zh-TW" altLang="en-US" dirty="0" smtClean="0"/>
              <a:t> ®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SF Pro TC"/>
              </a:rPr>
              <a:t>日本冰晶番茄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SF Pro TC"/>
              </a:rPr>
              <a:t>4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SF Pro TC"/>
              </a:rPr>
              <a:t>倍濃度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SF Pro TC"/>
              </a:rPr>
              <a:t>.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SF Pro TC"/>
              </a:rPr>
              <a:t>水溶</a:t>
            </a:r>
            <a:r>
              <a:rPr lang="en-US" altLang="zh-TW" dirty="0" smtClean="0">
                <a:solidFill>
                  <a:srgbClr val="333333"/>
                </a:solidFill>
                <a:latin typeface="SF Pro TC"/>
              </a:rPr>
              <a:t>.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SF Pro TC"/>
              </a:rPr>
              <a:t>美透白足量添加，</a:t>
            </a:r>
            <a:r>
              <a:rPr lang="en-US" altLang="zh-TW" b="0" i="0" dirty="0" err="1" smtClean="0">
                <a:solidFill>
                  <a:srgbClr val="333333"/>
                </a:solidFill>
                <a:effectLst/>
                <a:latin typeface="SF Pro TC"/>
              </a:rPr>
              <a:t>100mg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SF Pro TC"/>
              </a:rPr>
              <a:t>穩定膚質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3942224" y="2375973"/>
            <a:ext cx="768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 smtClean="0">
                <a:solidFill>
                  <a:srgbClr val="333333"/>
                </a:solidFill>
                <a:latin typeface="SF Pro TC"/>
              </a:rPr>
              <a:t>PUREWAY</a:t>
            </a:r>
            <a:r>
              <a:rPr lang="en-US" altLang="zh-TW" dirty="0" smtClean="0">
                <a:solidFill>
                  <a:srgbClr val="333333"/>
                </a:solidFill>
                <a:latin typeface="SF Pro TC"/>
              </a:rPr>
              <a:t>  C</a:t>
            </a:r>
            <a:r>
              <a:rPr lang="zh-TW" altLang="en-US" dirty="0" smtClean="0"/>
              <a:t> ®</a:t>
            </a:r>
            <a:r>
              <a:rPr lang="en-US" altLang="zh-TW" dirty="0" smtClean="0">
                <a:solidFill>
                  <a:srgbClr val="333333"/>
                </a:solidFill>
                <a:latin typeface="SF Pro TC"/>
              </a:rPr>
              <a:t> </a:t>
            </a:r>
            <a:r>
              <a:rPr lang="zh-TW" altLang="en-US" dirty="0" smtClean="0">
                <a:solidFill>
                  <a:srgbClr val="333333"/>
                </a:solidFill>
                <a:latin typeface="SF Pro TC"/>
              </a:rPr>
              <a:t>美國專利複方維生素</a:t>
            </a:r>
            <a:r>
              <a:rPr lang="en-US" altLang="zh-TW" dirty="0" smtClean="0">
                <a:solidFill>
                  <a:srgbClr val="333333"/>
                </a:solidFill>
                <a:latin typeface="SF Pro TC"/>
              </a:rPr>
              <a:t>C</a:t>
            </a:r>
            <a:r>
              <a:rPr lang="zh-TW" altLang="en-US" dirty="0" smtClean="0">
                <a:solidFill>
                  <a:srgbClr val="333333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en-US" altLang="zh-TW" dirty="0" err="1" smtClean="0">
                <a:solidFill>
                  <a:srgbClr val="333333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150mg</a:t>
            </a:r>
            <a:r>
              <a:rPr lang="en-US" altLang="zh-TW" dirty="0" smtClean="0">
                <a:solidFill>
                  <a:srgbClr val="333333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 </a:t>
            </a:r>
            <a:r>
              <a:rPr lang="en-US" altLang="zh-TW" dirty="0" smtClean="0">
                <a:solidFill>
                  <a:srgbClr val="333333"/>
                </a:solidFill>
                <a:latin typeface="SF Pro TC"/>
              </a:rPr>
              <a:t>24</a:t>
            </a:r>
            <a:r>
              <a:rPr lang="zh-TW" altLang="en-US" dirty="0" smtClean="0">
                <a:solidFill>
                  <a:srgbClr val="333333"/>
                </a:solidFill>
                <a:latin typeface="SF Pro TC"/>
              </a:rPr>
              <a:t>小時緩釋 </a:t>
            </a:r>
            <a:r>
              <a:rPr lang="en-US" altLang="zh-TW" dirty="0">
                <a:solidFill>
                  <a:srgbClr val="333333"/>
                </a:solidFill>
                <a:latin typeface="SF Pro TC"/>
              </a:rPr>
              <a:t> </a:t>
            </a:r>
            <a:r>
              <a:rPr lang="zh-TW" altLang="en-US" dirty="0" smtClean="0">
                <a:solidFill>
                  <a:srgbClr val="333333"/>
                </a:solidFill>
                <a:latin typeface="SF Pro TC"/>
              </a:rPr>
              <a:t>全天候</a:t>
            </a:r>
            <a:r>
              <a:rPr lang="zh-TW" altLang="en-US" dirty="0">
                <a:solidFill>
                  <a:srgbClr val="333333"/>
                </a:solidFill>
                <a:latin typeface="SF Pro TC"/>
              </a:rPr>
              <a:t>細嫩</a:t>
            </a:r>
            <a:r>
              <a:rPr lang="zh-TW" altLang="en-US" dirty="0" smtClean="0">
                <a:solidFill>
                  <a:srgbClr val="333333"/>
                </a:solidFill>
                <a:latin typeface="SF Pro TC"/>
              </a:rPr>
              <a:t>保養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942224" y="2926729"/>
            <a:ext cx="75889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>
                <a:latin typeface="+mn-ea"/>
              </a:rPr>
              <a:t>Mesoporosil</a:t>
            </a:r>
            <a:r>
              <a:rPr lang="zh-TW" altLang="en-US" dirty="0" smtClean="0"/>
              <a:t>®比利時專利正矽酸複合物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en-US" altLang="zh-TW" dirty="0" err="1" smtClean="0">
                <a:latin typeface="PMingLiU" panose="02020500000000000000" pitchFamily="18" charset="-120"/>
                <a:ea typeface="PMingLiU" panose="02020500000000000000" pitchFamily="18" charset="-120"/>
              </a:rPr>
              <a:t>66.6mg</a:t>
            </a:r>
            <a:r>
              <a:rPr lang="zh-TW" altLang="en-US" dirty="0" smtClean="0"/>
              <a:t>專利</a:t>
            </a:r>
            <a:r>
              <a:rPr lang="zh-TW" altLang="en-US" dirty="0"/>
              <a:t>技術</a:t>
            </a:r>
            <a:r>
              <a:rPr lang="zh-TW" altLang="en-US" dirty="0" smtClean="0"/>
              <a:t>結合提升</a:t>
            </a:r>
            <a:r>
              <a:rPr lang="zh-TW" altLang="en-US" dirty="0"/>
              <a:t>吸收率</a:t>
            </a:r>
          </a:p>
          <a:p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9480526" y="340175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素食</a:t>
            </a:r>
            <a:r>
              <a:rPr lang="zh-TW" altLang="en-US" dirty="0" smtClean="0"/>
              <a:t>可食用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4426" y="75992"/>
            <a:ext cx="4389927" cy="3863136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1073150" y="3939128"/>
            <a:ext cx="63348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+mn-ea"/>
              </a:rPr>
              <a:t>原價  </a:t>
            </a:r>
            <a:r>
              <a:rPr lang="en-US" altLang="zh-TW" dirty="0" smtClean="0">
                <a:latin typeface="+mn-ea"/>
              </a:rPr>
              <a:t>1880 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endParaRPr lang="en-US" altLang="zh-TW" dirty="0">
              <a:latin typeface="+mn-ea"/>
            </a:endParaRPr>
          </a:p>
          <a:p>
            <a:r>
              <a:rPr lang="en-US" altLang="zh-TW" dirty="0" smtClean="0">
                <a:latin typeface="+mn-ea"/>
              </a:rPr>
              <a:t>2026</a:t>
            </a:r>
            <a:r>
              <a:rPr lang="zh-TW" altLang="en-US" dirty="0" smtClean="0">
                <a:latin typeface="+mn-ea"/>
              </a:rPr>
              <a:t>  新</a:t>
            </a:r>
            <a:r>
              <a:rPr lang="zh-TW" altLang="en-US" dirty="0" smtClean="0">
                <a:latin typeface="+mn-ea"/>
              </a:rPr>
              <a:t>品價 </a:t>
            </a:r>
            <a:r>
              <a:rPr lang="zh-TW" altLang="en-US" dirty="0" smtClean="0">
                <a:latin typeface="+mn-ea"/>
              </a:rPr>
              <a:t>           </a:t>
            </a:r>
            <a:r>
              <a:rPr lang="en-US" altLang="zh-TW" dirty="0" smtClean="0">
                <a:latin typeface="+mn-ea"/>
              </a:rPr>
              <a:t>1380</a:t>
            </a:r>
            <a:r>
              <a:rPr lang="en-US" altLang="zh-TW" dirty="0" smtClean="0">
                <a:latin typeface="+mn-ea"/>
              </a:rPr>
              <a:t>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endParaRPr lang="en-US" altLang="zh-TW" dirty="0" smtClean="0">
              <a:latin typeface="+mn-ea"/>
            </a:endParaRPr>
          </a:p>
          <a:p>
            <a:r>
              <a:rPr lang="zh-TW" altLang="en-US" dirty="0">
                <a:latin typeface="+mn-ea"/>
              </a:rPr>
              <a:t> </a:t>
            </a:r>
            <a:r>
              <a:rPr lang="zh-TW" altLang="en-US" dirty="0" smtClean="0">
                <a:latin typeface="+mn-ea"/>
              </a:rPr>
              <a:t>         買三送一組    </a:t>
            </a:r>
            <a:r>
              <a:rPr lang="en-US" altLang="zh-TW" dirty="0" smtClean="0">
                <a:latin typeface="+mn-ea"/>
              </a:rPr>
              <a:t>4140/</a:t>
            </a:r>
            <a:r>
              <a:rPr lang="zh-TW" altLang="en-US" dirty="0" smtClean="0">
                <a:latin typeface="+mn-ea"/>
              </a:rPr>
              <a:t>組      平均</a:t>
            </a:r>
            <a:r>
              <a:rPr lang="en-US" altLang="zh-TW" dirty="0" smtClean="0">
                <a:latin typeface="+mn-ea"/>
              </a:rPr>
              <a:t>1035/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endParaRPr lang="en-US" altLang="zh-TW" dirty="0" smtClean="0">
              <a:latin typeface="+mn-ea"/>
            </a:endParaRPr>
          </a:p>
          <a:p>
            <a:r>
              <a:rPr lang="zh-TW" altLang="en-US" dirty="0">
                <a:latin typeface="+mn-ea"/>
              </a:rPr>
              <a:t>新春</a:t>
            </a:r>
            <a:r>
              <a:rPr lang="zh-TW" altLang="en-US" dirty="0" smtClean="0">
                <a:latin typeface="+mn-ea"/>
              </a:rPr>
              <a:t>限時優惠  </a:t>
            </a:r>
            <a:r>
              <a:rPr lang="en-US" altLang="zh-TW" dirty="0" smtClean="0">
                <a:latin typeface="+mn-ea"/>
              </a:rPr>
              <a:t>115/02/01〜115/03/31</a:t>
            </a:r>
            <a:endParaRPr lang="zh-TW" altLang="en-US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TW" dirty="0" smtClean="0">
                <a:latin typeface="+mn-ea"/>
              </a:rPr>
              <a:t>2026</a:t>
            </a:r>
            <a:r>
              <a:rPr lang="zh-TW" altLang="en-US" dirty="0" smtClean="0">
                <a:latin typeface="+mn-ea"/>
              </a:rPr>
              <a:t>小量價  </a:t>
            </a:r>
            <a:r>
              <a:rPr lang="zh-TW" altLang="en-US" dirty="0" smtClean="0">
                <a:latin typeface="+mn-ea"/>
              </a:rPr>
              <a:t>   </a:t>
            </a:r>
            <a:r>
              <a:rPr lang="en-US" altLang="zh-TW" dirty="0" smtClean="0">
                <a:latin typeface="+mn-ea"/>
              </a:rPr>
              <a:t>6</a:t>
            </a:r>
            <a:r>
              <a:rPr lang="zh-TW" altLang="en-US" dirty="0">
                <a:latin typeface="+mn-ea"/>
              </a:rPr>
              <a:t>盒</a:t>
            </a:r>
            <a:r>
              <a:rPr lang="zh-TW" altLang="en-US" dirty="0" smtClean="0">
                <a:latin typeface="+mn-ea"/>
              </a:rPr>
              <a:t>組再折</a:t>
            </a:r>
            <a:r>
              <a:rPr lang="en-US" altLang="zh-TW" dirty="0" smtClean="0">
                <a:latin typeface="+mn-ea"/>
              </a:rPr>
              <a:t>100</a:t>
            </a:r>
            <a:r>
              <a:rPr lang="zh-TW" altLang="en-US" dirty="0" smtClean="0">
                <a:latin typeface="+mn-ea"/>
              </a:rPr>
              <a:t>元      </a:t>
            </a:r>
            <a:r>
              <a:rPr lang="en-US" altLang="zh-TW" dirty="0" smtClean="0">
                <a:latin typeface="+mn-ea"/>
              </a:rPr>
              <a:t>5940/6</a:t>
            </a:r>
            <a:r>
              <a:rPr lang="zh-TW" altLang="en-US" dirty="0" smtClean="0">
                <a:latin typeface="+mn-ea"/>
              </a:rPr>
              <a:t>盒     </a:t>
            </a:r>
            <a:r>
              <a:rPr lang="zh-TW" altLang="en-US" dirty="0" smtClean="0">
                <a:latin typeface="+mn-ea"/>
              </a:rPr>
              <a:t>  平均 </a:t>
            </a:r>
            <a:r>
              <a:rPr lang="en-US" altLang="zh-TW" dirty="0" smtClean="0">
                <a:latin typeface="+mn-ea"/>
              </a:rPr>
              <a:t>990 </a:t>
            </a:r>
            <a:r>
              <a:rPr lang="en-US" altLang="zh-TW" dirty="0" smtClean="0">
                <a:latin typeface="+mn-ea"/>
              </a:rPr>
              <a:t>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r>
              <a:rPr lang="en-US" altLang="zh-TW" dirty="0" smtClean="0">
                <a:latin typeface="+mn-ea"/>
              </a:rPr>
              <a:t>                       12</a:t>
            </a:r>
            <a:r>
              <a:rPr lang="zh-TW" altLang="en-US" dirty="0" smtClean="0">
                <a:latin typeface="+mn-ea"/>
              </a:rPr>
              <a:t>盒組再折</a:t>
            </a:r>
            <a:r>
              <a:rPr lang="en-US" altLang="zh-TW" dirty="0" smtClean="0">
                <a:latin typeface="+mn-ea"/>
              </a:rPr>
              <a:t>200</a:t>
            </a:r>
            <a:r>
              <a:rPr lang="zh-TW" altLang="en-US" dirty="0" smtClean="0">
                <a:latin typeface="+mn-ea"/>
              </a:rPr>
              <a:t>元     </a:t>
            </a:r>
            <a:r>
              <a:rPr lang="en-US" altLang="zh-TW" dirty="0" smtClean="0">
                <a:latin typeface="+mn-ea"/>
              </a:rPr>
              <a:t>9600/12</a:t>
            </a:r>
            <a:r>
              <a:rPr lang="zh-TW" altLang="en-US" dirty="0" smtClean="0">
                <a:latin typeface="+mn-ea"/>
              </a:rPr>
              <a:t>盒  </a:t>
            </a:r>
            <a:r>
              <a:rPr lang="zh-TW" altLang="en-US" dirty="0" smtClean="0">
                <a:latin typeface="+mn-ea"/>
              </a:rPr>
              <a:t>   平均 </a:t>
            </a:r>
            <a:r>
              <a:rPr lang="en-US" altLang="zh-TW" dirty="0" smtClean="0">
                <a:latin typeface="+mn-ea"/>
              </a:rPr>
              <a:t>950 </a:t>
            </a:r>
            <a:r>
              <a:rPr lang="en-US" altLang="zh-TW" dirty="0" smtClean="0">
                <a:latin typeface="+mn-ea"/>
              </a:rPr>
              <a:t>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endParaRPr lang="zh-TW" altLang="en-US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53881" y="3401751"/>
            <a:ext cx="3222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安心 </a:t>
            </a:r>
            <a:r>
              <a:rPr lang="en-US" altLang="zh-TW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| </a:t>
            </a:r>
            <a:r>
              <a:rPr lang="zh-TW" altLang="en-US" dirty="0" smtClean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 第三</a:t>
            </a:r>
            <a:r>
              <a:rPr lang="zh-TW" altLang="en-US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方</a:t>
            </a:r>
            <a:r>
              <a:rPr lang="zh-TW" altLang="en-US" dirty="0" smtClean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實驗室五項檢驗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022300" y="315583"/>
            <a:ext cx="72787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 smtClean="0"/>
              <a:t>2026</a:t>
            </a:r>
            <a:r>
              <a:rPr lang="zh-TW" altLang="en-US" sz="2400" dirty="0" smtClean="0"/>
              <a:t>       全新</a:t>
            </a:r>
            <a:r>
              <a:rPr lang="zh-TW" altLang="en-US" sz="2400" dirty="0" smtClean="0"/>
              <a:t>上市    </a:t>
            </a:r>
            <a:r>
              <a:rPr lang="zh-TW" altLang="en-US" sz="2400" dirty="0" smtClean="0"/>
              <a:t>     </a:t>
            </a:r>
            <a:r>
              <a:rPr lang="zh-TW" altLang="en-US" sz="2400" dirty="0" smtClean="0"/>
              <a:t>素</a:t>
            </a:r>
            <a:r>
              <a:rPr lang="zh-TW" altLang="en-US" sz="2400" dirty="0"/>
              <a:t>顏</a:t>
            </a:r>
            <a:r>
              <a:rPr lang="zh-TW" altLang="en-US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基</a:t>
            </a:r>
            <a:r>
              <a:rPr lang="zh-TW" altLang="zh-TW" sz="2400" b="1" dirty="0">
                <a:solidFill>
                  <a:srgbClr val="000000"/>
                </a:solidFill>
                <a:latin typeface="Arial" panose="020B0604020202020204" pitchFamily="34" charset="0"/>
              </a:rPr>
              <a:t>底透亮抗氧化</a:t>
            </a:r>
            <a:r>
              <a:rPr lang="zh-TW" altLang="zh-TW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配方</a:t>
            </a:r>
            <a:endParaRPr lang="en-US" altLang="zh-TW" sz="2400" dirty="0" smtClean="0"/>
          </a:p>
        </p:txBody>
      </p:sp>
      <p:sp>
        <p:nvSpPr>
          <p:cNvPr id="11" name="矩形 10"/>
          <p:cNvSpPr/>
          <p:nvPr/>
        </p:nvSpPr>
        <p:spPr>
          <a:xfrm>
            <a:off x="4022300" y="774880"/>
            <a:ext cx="24893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err="1" smtClean="0"/>
              <a:t>UFLOW</a:t>
            </a:r>
            <a:r>
              <a:rPr lang="en-US" altLang="zh-TW" sz="2400" dirty="0" smtClean="0"/>
              <a:t>  </a:t>
            </a:r>
            <a:r>
              <a:rPr lang="zh-TW" altLang="en-US" sz="2400" dirty="0" smtClean="0"/>
              <a:t>肽晶芙蓉</a:t>
            </a: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3528478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1" t="10035" r="21654"/>
          <a:stretch/>
        </p:blipFill>
        <p:spPr>
          <a:xfrm>
            <a:off x="1076949" y="107517"/>
            <a:ext cx="2629625" cy="390269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514342" y="1424890"/>
            <a:ext cx="696905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GABAEX ®  </a:t>
            </a:r>
            <a:r>
              <a:rPr lang="en-US" altLang="zh-TW" dirty="0" err="1" smtClean="0"/>
              <a:t>500mg</a:t>
            </a:r>
            <a:endParaRPr lang="en-US" altLang="zh-TW" dirty="0" smtClean="0"/>
          </a:p>
          <a:p>
            <a:r>
              <a:rPr lang="zh-TW" altLang="en-US" dirty="0" smtClean="0"/>
              <a:t>韓國專利麩胺酸發酵物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zh-TW" altLang="en-US" kern="0" dirty="0" smtClean="0">
                <a:solidFill>
                  <a:srgbClr val="0A0A0A"/>
                </a:solidFill>
                <a:latin typeface="PMingLiU" panose="02020500000000000000" pitchFamily="18" charset="-12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zh-TW" altLang="zh-TW" kern="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放鬆、</a:t>
            </a:r>
            <a:r>
              <a:rPr lang="zh-TW" altLang="en-US" kern="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撫慰</a:t>
            </a:r>
            <a:r>
              <a:rPr lang="zh-TW" altLang="zh-TW" kern="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zh-TW" altLang="en-US" kern="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好</a:t>
            </a:r>
            <a:r>
              <a:rPr lang="zh-TW" altLang="en-US" kern="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入</a:t>
            </a:r>
            <a:r>
              <a:rPr lang="zh-TW" altLang="zh-TW" kern="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睡</a:t>
            </a:r>
            <a:endParaRPr lang="en-US" altLang="zh-TW" kern="0" dirty="0" smtClean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TW" altLang="en-US" dirty="0" smtClean="0"/>
          </a:p>
          <a:p>
            <a:r>
              <a:rPr lang="en-US" altLang="zh-TW" dirty="0" err="1" smtClean="0"/>
              <a:t>SideMag</a:t>
            </a:r>
            <a:r>
              <a:rPr lang="zh-TW" altLang="en-US" dirty="0" smtClean="0"/>
              <a:t> ®  </a:t>
            </a:r>
            <a:r>
              <a:rPr lang="en-US" altLang="zh-TW" dirty="0" err="1" smtClean="0"/>
              <a:t>200mg</a:t>
            </a:r>
            <a:endParaRPr lang="en-US" altLang="zh-TW" dirty="0" smtClean="0"/>
          </a:p>
          <a:p>
            <a:r>
              <a:rPr lang="zh-TW" altLang="en-US" dirty="0" smtClean="0"/>
              <a:t>義大利專利</a:t>
            </a:r>
            <a:r>
              <a:rPr lang="zh-TW" altLang="en-US" dirty="0"/>
              <a:t>速可包覆</a:t>
            </a:r>
            <a:r>
              <a:rPr lang="zh-TW" altLang="en-US" dirty="0" smtClean="0"/>
              <a:t>鎂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： </a:t>
            </a:r>
            <a:r>
              <a:rPr lang="zh-TW" altLang="en-US" dirty="0" smtClean="0"/>
              <a:t>三層</a:t>
            </a:r>
            <a:r>
              <a:rPr lang="zh-TW" altLang="en-US" dirty="0"/>
              <a:t>包覆技術，吸收再</a:t>
            </a:r>
            <a:r>
              <a:rPr lang="zh-TW" altLang="en-US" dirty="0" smtClean="0"/>
              <a:t>進化提升利用率</a:t>
            </a:r>
            <a:br>
              <a:rPr lang="zh-TW" altLang="en-US" dirty="0" smtClean="0"/>
            </a:br>
            <a:r>
              <a:rPr lang="zh-TW" altLang="en-US" dirty="0" smtClean="0"/>
              <a:t>                                               是</a:t>
            </a:r>
            <a:r>
              <a:rPr lang="zh-TW" altLang="en-US" dirty="0"/>
              <a:t>合成氧化鎂的 </a:t>
            </a:r>
            <a:r>
              <a:rPr lang="en-US" altLang="zh-TW" dirty="0"/>
              <a:t>220 </a:t>
            </a:r>
            <a:r>
              <a:rPr lang="en-US" altLang="zh-TW" dirty="0" smtClean="0"/>
              <a:t>%</a:t>
            </a:r>
            <a:r>
              <a:rPr lang="zh-TW" altLang="en-US" dirty="0" smtClean="0"/>
              <a:t>   吡酮酸鎂的</a:t>
            </a:r>
            <a:r>
              <a:rPr lang="en-US" altLang="zh-TW" dirty="0" smtClean="0"/>
              <a:t>300%</a:t>
            </a:r>
            <a:r>
              <a:rPr lang="zh-TW" altLang="en-US" dirty="0" smtClean="0"/>
              <a:t/>
            </a:r>
            <a:br>
              <a:rPr lang="zh-TW" altLang="en-US" dirty="0" smtClean="0"/>
            </a:br>
            <a:r>
              <a:rPr lang="en-US" altLang="zh-TW" dirty="0" smtClean="0"/>
              <a:t>Lemon Balm Ext  </a:t>
            </a:r>
            <a:r>
              <a:rPr lang="en-US" altLang="zh-TW" dirty="0" err="1" smtClean="0"/>
              <a:t>200mg</a:t>
            </a:r>
            <a:endParaRPr lang="en-US" altLang="zh-TW" dirty="0" smtClean="0"/>
          </a:p>
          <a:p>
            <a:r>
              <a:rPr lang="zh-TW" altLang="en-US" dirty="0" smtClean="0"/>
              <a:t>法國香蜂草萃取物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zh-TW" altLang="en-US" dirty="0"/>
              <a:t> </a:t>
            </a:r>
            <a:r>
              <a:rPr lang="en-US" altLang="zh-TW" dirty="0"/>
              <a:t>100%</a:t>
            </a:r>
            <a:r>
              <a:rPr lang="zh-TW" altLang="en-US" dirty="0"/>
              <a:t>純天然</a:t>
            </a:r>
            <a:r>
              <a:rPr lang="zh-TW" altLang="en-US" dirty="0" smtClean="0"/>
              <a:t>萃取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，</a:t>
            </a:r>
            <a:r>
              <a:rPr lang="zh-TW" altLang="en-US" b="1" dirty="0" smtClean="0"/>
              <a:t>舒壓、助</a:t>
            </a:r>
            <a:r>
              <a:rPr lang="zh-TW" altLang="en-US" b="1" dirty="0"/>
              <a:t>眠</a:t>
            </a:r>
            <a:r>
              <a:rPr lang="zh-TW" altLang="en-US" b="1" dirty="0" smtClean="0"/>
              <a:t>、幫助專注力</a:t>
            </a:r>
            <a:r>
              <a:rPr lang="zh-TW" altLang="zh-TW" b="1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endParaRPr lang="en-US" altLang="zh-TW" b="1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zh-TW" altLang="en-US" dirty="0"/>
              <a:t> </a:t>
            </a:r>
            <a:r>
              <a:rPr lang="zh-TW" altLang="en-US" dirty="0" smtClean="0"/>
              <a:t>                                       良好</a:t>
            </a:r>
            <a:r>
              <a:rPr lang="zh-TW" altLang="en-US" dirty="0"/>
              <a:t>抗氧化能力</a:t>
            </a:r>
            <a:endParaRPr lang="zh-TW" altLang="en-US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4440850" y="249535"/>
            <a:ext cx="5391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/>
              <a:t>2026</a:t>
            </a:r>
            <a:r>
              <a:rPr lang="zh-TW" altLang="en-US" sz="2400" dirty="0" smtClean="0"/>
              <a:t>全新上市    日夜作息節奏管理教練</a:t>
            </a:r>
            <a:endParaRPr lang="en-US" altLang="zh-TW" sz="2400" dirty="0" smtClean="0"/>
          </a:p>
        </p:txBody>
      </p:sp>
      <p:sp>
        <p:nvSpPr>
          <p:cNvPr id="5" name="矩形 4"/>
          <p:cNvSpPr/>
          <p:nvPr/>
        </p:nvSpPr>
        <p:spPr>
          <a:xfrm>
            <a:off x="9853570" y="366842"/>
            <a:ext cx="18314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b="1" dirty="0">
                <a:latin typeface="Arial" panose="020B0604020202020204" pitchFamily="34" charset="0"/>
              </a:rPr>
              <a:t>日夜雙段調理</a:t>
            </a:r>
            <a:endParaRPr lang="en-US" altLang="zh-TW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b="1" dirty="0" smtClean="0">
                <a:latin typeface="Arial" panose="020B0604020202020204" pitchFamily="34" charset="0"/>
              </a:rPr>
              <a:t>非</a:t>
            </a:r>
            <a:r>
              <a:rPr lang="zh-TW" altLang="zh-TW" b="1" dirty="0">
                <a:latin typeface="Arial" panose="020B0604020202020204" pitchFamily="34" charset="0"/>
              </a:rPr>
              <a:t>刺激型</a:t>
            </a:r>
            <a:r>
              <a:rPr lang="zh-TW" altLang="en-US" b="1" dirty="0">
                <a:latin typeface="Arial" panose="020B0604020202020204" pitchFamily="34" charset="0"/>
              </a:rPr>
              <a:t>延展</a:t>
            </a:r>
            <a:endParaRPr lang="zh-TW" altLang="zh-TW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501" y="4055119"/>
            <a:ext cx="2207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美國 </a:t>
            </a:r>
            <a:r>
              <a:rPr lang="en-US" altLang="zh-TW" dirty="0" smtClean="0"/>
              <a:t>FDA GRAS </a:t>
            </a:r>
            <a:r>
              <a:rPr lang="zh-TW" altLang="en-US" dirty="0" smtClean="0"/>
              <a:t>認證 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4646317" y="405511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天然 </a:t>
            </a:r>
            <a:r>
              <a:rPr lang="en-US" altLang="zh-TW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:</a:t>
            </a:r>
            <a:r>
              <a:rPr lang="en-US" altLang="zh-TW" dirty="0" smtClean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lang="zh-TW" altLang="en-US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無人工色素、無防腐劑、無香料</a:t>
            </a:r>
            <a:r>
              <a:rPr lang="zh-TW" altLang="en-US" dirty="0"/>
              <a:t/>
            </a:r>
            <a:br>
              <a:rPr lang="zh-TW" altLang="en-US" dirty="0"/>
            </a:br>
            <a:r>
              <a:rPr lang="zh-TW" altLang="en-US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無麩質、無乳糖、非基改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9129145" y="465402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素食</a:t>
            </a:r>
            <a:r>
              <a:rPr lang="zh-TW" altLang="en-US" dirty="0" smtClean="0"/>
              <a:t>可食用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646317" y="4746356"/>
            <a:ext cx="31213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安心 </a:t>
            </a:r>
            <a:r>
              <a:rPr lang="en-US" altLang="zh-TW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:</a:t>
            </a:r>
            <a:r>
              <a:rPr lang="zh-TW" altLang="en-US" dirty="0" smtClean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第三</a:t>
            </a:r>
            <a:r>
              <a:rPr lang="zh-TW" altLang="en-US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方</a:t>
            </a:r>
            <a:r>
              <a:rPr lang="zh-TW" altLang="en-US" dirty="0" smtClean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實驗室五項檢驗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01648" y="4239785"/>
            <a:ext cx="63348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+mn-ea"/>
              </a:rPr>
              <a:t>原價  </a:t>
            </a:r>
            <a:r>
              <a:rPr lang="en-US" altLang="zh-TW" dirty="0" smtClean="0">
                <a:latin typeface="+mn-ea"/>
              </a:rPr>
              <a:t>1580 </a:t>
            </a:r>
            <a:r>
              <a:rPr lang="en-US" altLang="zh-TW" dirty="0" smtClean="0">
                <a:latin typeface="+mn-ea"/>
              </a:rPr>
              <a:t>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endParaRPr lang="en-US" altLang="zh-TW" dirty="0">
              <a:latin typeface="+mn-ea"/>
            </a:endParaRPr>
          </a:p>
          <a:p>
            <a:r>
              <a:rPr lang="en-US" altLang="zh-TW" dirty="0" smtClean="0">
                <a:latin typeface="+mn-ea"/>
              </a:rPr>
              <a:t>2026</a:t>
            </a:r>
            <a:r>
              <a:rPr lang="zh-TW" altLang="en-US" dirty="0" smtClean="0">
                <a:latin typeface="+mn-ea"/>
              </a:rPr>
              <a:t>  新</a:t>
            </a:r>
            <a:r>
              <a:rPr lang="zh-TW" altLang="en-US" dirty="0" smtClean="0">
                <a:latin typeface="+mn-ea"/>
              </a:rPr>
              <a:t>品價 </a:t>
            </a:r>
            <a:r>
              <a:rPr lang="zh-TW" altLang="en-US" dirty="0" smtClean="0">
                <a:latin typeface="+mn-ea"/>
              </a:rPr>
              <a:t>           </a:t>
            </a:r>
            <a:r>
              <a:rPr lang="en-US" altLang="zh-TW" dirty="0" smtClean="0">
                <a:latin typeface="+mn-ea"/>
              </a:rPr>
              <a:t>1080</a:t>
            </a:r>
            <a:r>
              <a:rPr lang="en-US" altLang="zh-TW" dirty="0" smtClean="0">
                <a:latin typeface="+mn-ea"/>
              </a:rPr>
              <a:t>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endParaRPr lang="en-US" altLang="zh-TW" dirty="0" smtClean="0">
              <a:latin typeface="+mn-ea"/>
            </a:endParaRPr>
          </a:p>
          <a:p>
            <a:r>
              <a:rPr lang="zh-TW" altLang="en-US" dirty="0">
                <a:latin typeface="+mn-ea"/>
              </a:rPr>
              <a:t> </a:t>
            </a:r>
            <a:r>
              <a:rPr lang="zh-TW" altLang="en-US" dirty="0" smtClean="0">
                <a:latin typeface="+mn-ea"/>
              </a:rPr>
              <a:t>         買三送一組    </a:t>
            </a:r>
            <a:r>
              <a:rPr lang="en-US" altLang="zh-TW" dirty="0" smtClean="0">
                <a:latin typeface="+mn-ea"/>
              </a:rPr>
              <a:t>3240/</a:t>
            </a:r>
            <a:r>
              <a:rPr lang="zh-TW" altLang="en-US" dirty="0" smtClean="0">
                <a:latin typeface="+mn-ea"/>
              </a:rPr>
              <a:t>組      平均 </a:t>
            </a:r>
            <a:r>
              <a:rPr lang="en-US" altLang="zh-TW" dirty="0" smtClean="0">
                <a:latin typeface="+mn-ea"/>
              </a:rPr>
              <a:t>810/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endParaRPr lang="en-US" altLang="zh-TW" dirty="0" smtClean="0">
              <a:latin typeface="+mn-ea"/>
            </a:endParaRPr>
          </a:p>
          <a:p>
            <a:r>
              <a:rPr lang="zh-TW" altLang="en-US" dirty="0">
                <a:latin typeface="+mn-ea"/>
              </a:rPr>
              <a:t>新春</a:t>
            </a:r>
            <a:r>
              <a:rPr lang="zh-TW" altLang="en-US" dirty="0" smtClean="0">
                <a:latin typeface="+mn-ea"/>
              </a:rPr>
              <a:t>限時優惠  </a:t>
            </a:r>
            <a:r>
              <a:rPr lang="en-US" altLang="zh-TW" dirty="0" smtClean="0">
                <a:latin typeface="+mn-ea"/>
              </a:rPr>
              <a:t>115/02/01〜115/03/31</a:t>
            </a:r>
            <a:endParaRPr lang="zh-TW" altLang="en-US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TW" dirty="0" smtClean="0">
                <a:latin typeface="+mn-ea"/>
              </a:rPr>
              <a:t>2026</a:t>
            </a:r>
            <a:r>
              <a:rPr lang="zh-TW" altLang="en-US" dirty="0" smtClean="0">
                <a:latin typeface="+mn-ea"/>
              </a:rPr>
              <a:t>小量價  </a:t>
            </a:r>
            <a:r>
              <a:rPr lang="zh-TW" altLang="en-US" dirty="0" smtClean="0">
                <a:latin typeface="+mn-ea"/>
              </a:rPr>
              <a:t>   </a:t>
            </a:r>
            <a:r>
              <a:rPr lang="en-US" altLang="zh-TW" dirty="0" smtClean="0">
                <a:latin typeface="+mn-ea"/>
              </a:rPr>
              <a:t>6</a:t>
            </a:r>
            <a:r>
              <a:rPr lang="zh-TW" altLang="en-US" dirty="0">
                <a:latin typeface="+mn-ea"/>
              </a:rPr>
              <a:t>盒</a:t>
            </a:r>
            <a:r>
              <a:rPr lang="zh-TW" altLang="en-US" dirty="0" smtClean="0">
                <a:latin typeface="+mn-ea"/>
              </a:rPr>
              <a:t>組再折</a:t>
            </a:r>
            <a:r>
              <a:rPr lang="en-US" altLang="zh-TW" dirty="0" smtClean="0">
                <a:latin typeface="+mn-ea"/>
              </a:rPr>
              <a:t>100</a:t>
            </a:r>
            <a:r>
              <a:rPr lang="zh-TW" altLang="en-US" dirty="0" smtClean="0">
                <a:latin typeface="+mn-ea"/>
              </a:rPr>
              <a:t>元     </a:t>
            </a:r>
            <a:r>
              <a:rPr lang="zh-TW" altLang="en-US" dirty="0" smtClean="0">
                <a:latin typeface="+mn-ea"/>
              </a:rPr>
              <a:t> </a:t>
            </a:r>
            <a:r>
              <a:rPr lang="en-US" altLang="zh-TW" dirty="0" smtClean="0">
                <a:latin typeface="+mn-ea"/>
              </a:rPr>
              <a:t>462</a:t>
            </a:r>
            <a:r>
              <a:rPr lang="en-US" altLang="zh-TW" dirty="0" smtClean="0">
                <a:latin typeface="+mn-ea"/>
              </a:rPr>
              <a:t>0/6</a:t>
            </a:r>
            <a:r>
              <a:rPr lang="zh-TW" altLang="en-US" dirty="0" smtClean="0">
                <a:latin typeface="+mn-ea"/>
              </a:rPr>
              <a:t>盒     </a:t>
            </a:r>
            <a:r>
              <a:rPr lang="zh-TW" altLang="en-US" dirty="0" smtClean="0">
                <a:latin typeface="+mn-ea"/>
              </a:rPr>
              <a:t>  平均 </a:t>
            </a:r>
            <a:r>
              <a:rPr lang="en-US" altLang="zh-TW" dirty="0" smtClean="0">
                <a:latin typeface="+mn-ea"/>
              </a:rPr>
              <a:t>770 </a:t>
            </a:r>
            <a:r>
              <a:rPr lang="en-US" altLang="zh-TW" dirty="0" smtClean="0">
                <a:latin typeface="+mn-ea"/>
              </a:rPr>
              <a:t>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r>
              <a:rPr lang="en-US" altLang="zh-TW" dirty="0" smtClean="0">
                <a:latin typeface="+mn-ea"/>
              </a:rPr>
              <a:t>                       12</a:t>
            </a:r>
            <a:r>
              <a:rPr lang="zh-TW" altLang="en-US" dirty="0" smtClean="0">
                <a:latin typeface="+mn-ea"/>
              </a:rPr>
              <a:t>盒組再折</a:t>
            </a:r>
            <a:r>
              <a:rPr lang="en-US" altLang="zh-TW" dirty="0" smtClean="0">
                <a:latin typeface="+mn-ea"/>
              </a:rPr>
              <a:t>200</a:t>
            </a:r>
            <a:r>
              <a:rPr lang="zh-TW" altLang="en-US" dirty="0" smtClean="0">
                <a:latin typeface="+mn-ea"/>
              </a:rPr>
              <a:t>元     </a:t>
            </a:r>
            <a:r>
              <a:rPr lang="en-US" altLang="zh-TW" dirty="0" smtClean="0">
                <a:latin typeface="+mn-ea"/>
              </a:rPr>
              <a:t>8760/12</a:t>
            </a:r>
            <a:r>
              <a:rPr lang="zh-TW" altLang="en-US" dirty="0" smtClean="0">
                <a:latin typeface="+mn-ea"/>
              </a:rPr>
              <a:t>盒  </a:t>
            </a:r>
            <a:r>
              <a:rPr lang="zh-TW" altLang="en-US" dirty="0" smtClean="0">
                <a:latin typeface="+mn-ea"/>
              </a:rPr>
              <a:t>   平均 </a:t>
            </a:r>
            <a:r>
              <a:rPr lang="en-US" altLang="zh-TW" dirty="0" smtClean="0">
                <a:latin typeface="+mn-ea"/>
              </a:rPr>
              <a:t>73</a:t>
            </a:r>
            <a:r>
              <a:rPr lang="en-US" altLang="zh-TW" dirty="0" smtClean="0">
                <a:latin typeface="+mn-ea"/>
              </a:rPr>
              <a:t>0 </a:t>
            </a:r>
            <a:r>
              <a:rPr lang="en-US" altLang="zh-TW" dirty="0" smtClean="0">
                <a:latin typeface="+mn-ea"/>
              </a:rPr>
              <a:t>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endParaRPr lang="zh-TW" altLang="en-US" dirty="0"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40850" y="848439"/>
            <a:ext cx="3786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err="1" smtClean="0"/>
              <a:t>UFLOW</a:t>
            </a:r>
            <a:r>
              <a:rPr lang="en-US" altLang="zh-TW" sz="2400" dirty="0" smtClean="0"/>
              <a:t>  </a:t>
            </a:r>
            <a:r>
              <a:rPr lang="zh-TW" altLang="en-US" sz="2400" dirty="0" smtClean="0"/>
              <a:t> </a:t>
            </a:r>
            <a:r>
              <a:rPr lang="en-US" altLang="zh-TW" sz="2400" dirty="0" err="1" smtClean="0"/>
              <a:t>GABA</a:t>
            </a:r>
            <a:r>
              <a:rPr lang="en-US" altLang="zh-TW" sz="2400" dirty="0" smtClean="0"/>
              <a:t> </a:t>
            </a:r>
            <a:r>
              <a:rPr lang="zh-TW" altLang="en-US" sz="2400" dirty="0" smtClean="0"/>
              <a:t>  鎂鎂香蜂草</a:t>
            </a: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647663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2" t="8769" r="20230" b="6110"/>
          <a:stretch/>
        </p:blipFill>
        <p:spPr>
          <a:xfrm>
            <a:off x="754142" y="0"/>
            <a:ext cx="3129699" cy="3874418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168178" y="3873130"/>
            <a:ext cx="63348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+mn-ea"/>
              </a:rPr>
              <a:t>原價  </a:t>
            </a:r>
            <a:r>
              <a:rPr lang="en-US" altLang="zh-TW" dirty="0" smtClean="0">
                <a:latin typeface="+mn-ea"/>
              </a:rPr>
              <a:t>1880 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endParaRPr lang="en-US" altLang="zh-TW" dirty="0">
              <a:latin typeface="+mn-ea"/>
            </a:endParaRPr>
          </a:p>
          <a:p>
            <a:r>
              <a:rPr lang="en-US" altLang="zh-TW" dirty="0" smtClean="0">
                <a:latin typeface="+mn-ea"/>
              </a:rPr>
              <a:t>2026</a:t>
            </a:r>
            <a:r>
              <a:rPr lang="zh-TW" altLang="en-US" dirty="0" smtClean="0">
                <a:latin typeface="+mn-ea"/>
              </a:rPr>
              <a:t>  新</a:t>
            </a:r>
            <a:r>
              <a:rPr lang="zh-TW" altLang="en-US" dirty="0" smtClean="0">
                <a:latin typeface="+mn-ea"/>
              </a:rPr>
              <a:t>品價 </a:t>
            </a:r>
            <a:r>
              <a:rPr lang="zh-TW" altLang="en-US" dirty="0" smtClean="0">
                <a:latin typeface="+mn-ea"/>
              </a:rPr>
              <a:t>           </a:t>
            </a:r>
            <a:r>
              <a:rPr lang="en-US" altLang="zh-TW" dirty="0" smtClean="0">
                <a:latin typeface="+mn-ea"/>
              </a:rPr>
              <a:t>1380</a:t>
            </a:r>
            <a:r>
              <a:rPr lang="en-US" altLang="zh-TW" dirty="0" smtClean="0">
                <a:latin typeface="+mn-ea"/>
              </a:rPr>
              <a:t>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endParaRPr lang="en-US" altLang="zh-TW" dirty="0" smtClean="0">
              <a:latin typeface="+mn-ea"/>
            </a:endParaRPr>
          </a:p>
          <a:p>
            <a:r>
              <a:rPr lang="zh-TW" altLang="en-US" dirty="0">
                <a:latin typeface="+mn-ea"/>
              </a:rPr>
              <a:t> </a:t>
            </a:r>
            <a:r>
              <a:rPr lang="zh-TW" altLang="en-US" dirty="0" smtClean="0">
                <a:latin typeface="+mn-ea"/>
              </a:rPr>
              <a:t>         買三送一組    </a:t>
            </a:r>
            <a:r>
              <a:rPr lang="en-US" altLang="zh-TW" dirty="0" smtClean="0">
                <a:latin typeface="+mn-ea"/>
              </a:rPr>
              <a:t>4140/</a:t>
            </a:r>
            <a:r>
              <a:rPr lang="zh-TW" altLang="en-US" dirty="0" smtClean="0">
                <a:latin typeface="+mn-ea"/>
              </a:rPr>
              <a:t>組      平均</a:t>
            </a:r>
            <a:r>
              <a:rPr lang="en-US" altLang="zh-TW" dirty="0" smtClean="0">
                <a:latin typeface="+mn-ea"/>
              </a:rPr>
              <a:t>1035/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endParaRPr lang="en-US" altLang="zh-TW" dirty="0" smtClean="0">
              <a:latin typeface="+mn-ea"/>
            </a:endParaRPr>
          </a:p>
          <a:p>
            <a:r>
              <a:rPr lang="zh-TW" altLang="en-US" dirty="0">
                <a:latin typeface="+mn-ea"/>
              </a:rPr>
              <a:t>新春</a:t>
            </a:r>
            <a:r>
              <a:rPr lang="zh-TW" altLang="en-US" dirty="0" smtClean="0">
                <a:latin typeface="+mn-ea"/>
              </a:rPr>
              <a:t>限時優惠  </a:t>
            </a:r>
            <a:r>
              <a:rPr lang="en-US" altLang="zh-TW" dirty="0" smtClean="0">
                <a:latin typeface="+mn-ea"/>
              </a:rPr>
              <a:t>115/02/01〜115/03/31</a:t>
            </a:r>
            <a:endParaRPr lang="zh-TW" altLang="en-US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TW" dirty="0" smtClean="0">
                <a:latin typeface="+mn-ea"/>
              </a:rPr>
              <a:t>2026</a:t>
            </a:r>
            <a:r>
              <a:rPr lang="zh-TW" altLang="en-US" dirty="0" smtClean="0">
                <a:latin typeface="+mn-ea"/>
              </a:rPr>
              <a:t>小量價  </a:t>
            </a:r>
            <a:r>
              <a:rPr lang="zh-TW" altLang="en-US" dirty="0" smtClean="0">
                <a:latin typeface="+mn-ea"/>
              </a:rPr>
              <a:t>   </a:t>
            </a:r>
            <a:r>
              <a:rPr lang="en-US" altLang="zh-TW" dirty="0" smtClean="0">
                <a:latin typeface="+mn-ea"/>
              </a:rPr>
              <a:t>6</a:t>
            </a:r>
            <a:r>
              <a:rPr lang="zh-TW" altLang="en-US" dirty="0">
                <a:latin typeface="+mn-ea"/>
              </a:rPr>
              <a:t>盒</a:t>
            </a:r>
            <a:r>
              <a:rPr lang="zh-TW" altLang="en-US" dirty="0" smtClean="0">
                <a:latin typeface="+mn-ea"/>
              </a:rPr>
              <a:t>組再折</a:t>
            </a:r>
            <a:r>
              <a:rPr lang="en-US" altLang="zh-TW" dirty="0" smtClean="0">
                <a:latin typeface="+mn-ea"/>
              </a:rPr>
              <a:t>100</a:t>
            </a:r>
            <a:r>
              <a:rPr lang="zh-TW" altLang="en-US" dirty="0" smtClean="0">
                <a:latin typeface="+mn-ea"/>
              </a:rPr>
              <a:t>元      </a:t>
            </a:r>
            <a:r>
              <a:rPr lang="en-US" altLang="zh-TW" dirty="0" smtClean="0">
                <a:latin typeface="+mn-ea"/>
              </a:rPr>
              <a:t>5940/6</a:t>
            </a:r>
            <a:r>
              <a:rPr lang="zh-TW" altLang="en-US" dirty="0" smtClean="0">
                <a:latin typeface="+mn-ea"/>
              </a:rPr>
              <a:t>盒     </a:t>
            </a:r>
            <a:r>
              <a:rPr lang="zh-TW" altLang="en-US" dirty="0" smtClean="0">
                <a:latin typeface="+mn-ea"/>
              </a:rPr>
              <a:t>  平均 </a:t>
            </a:r>
            <a:r>
              <a:rPr lang="en-US" altLang="zh-TW" dirty="0" smtClean="0">
                <a:latin typeface="+mn-ea"/>
              </a:rPr>
              <a:t>990 </a:t>
            </a:r>
            <a:r>
              <a:rPr lang="en-US" altLang="zh-TW" dirty="0" smtClean="0">
                <a:latin typeface="+mn-ea"/>
              </a:rPr>
              <a:t>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r>
              <a:rPr lang="en-US" altLang="zh-TW" dirty="0" smtClean="0">
                <a:latin typeface="+mn-ea"/>
              </a:rPr>
              <a:t>                       12</a:t>
            </a:r>
            <a:r>
              <a:rPr lang="zh-TW" altLang="en-US" dirty="0" smtClean="0">
                <a:latin typeface="+mn-ea"/>
              </a:rPr>
              <a:t>盒組再折</a:t>
            </a:r>
            <a:r>
              <a:rPr lang="en-US" altLang="zh-TW" dirty="0" smtClean="0">
                <a:latin typeface="+mn-ea"/>
              </a:rPr>
              <a:t>200</a:t>
            </a:r>
            <a:r>
              <a:rPr lang="zh-TW" altLang="en-US" dirty="0" smtClean="0">
                <a:latin typeface="+mn-ea"/>
              </a:rPr>
              <a:t>元     </a:t>
            </a:r>
            <a:r>
              <a:rPr lang="en-US" altLang="zh-TW" dirty="0" smtClean="0">
                <a:latin typeface="+mn-ea"/>
              </a:rPr>
              <a:t>9600/12</a:t>
            </a:r>
            <a:r>
              <a:rPr lang="zh-TW" altLang="en-US" dirty="0" smtClean="0">
                <a:latin typeface="+mn-ea"/>
              </a:rPr>
              <a:t>盒  </a:t>
            </a:r>
            <a:r>
              <a:rPr lang="zh-TW" altLang="en-US" dirty="0" smtClean="0">
                <a:latin typeface="+mn-ea"/>
              </a:rPr>
              <a:t>   平均 </a:t>
            </a:r>
            <a:r>
              <a:rPr lang="en-US" altLang="zh-TW" dirty="0" smtClean="0">
                <a:latin typeface="+mn-ea"/>
              </a:rPr>
              <a:t>950 </a:t>
            </a:r>
            <a:r>
              <a:rPr lang="en-US" altLang="zh-TW" dirty="0" smtClean="0">
                <a:latin typeface="+mn-ea"/>
              </a:rPr>
              <a:t>/</a:t>
            </a:r>
            <a:r>
              <a:rPr lang="zh-TW" altLang="en-US" dirty="0" smtClean="0">
                <a:latin typeface="+mn-ea"/>
              </a:rPr>
              <a:t>盒</a:t>
            </a:r>
            <a:endParaRPr lang="en-US" altLang="zh-TW" dirty="0" smtClean="0">
              <a:latin typeface="+mn-ea"/>
            </a:endParaRPr>
          </a:p>
          <a:p>
            <a:endParaRPr lang="zh-TW" altLang="en-US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71062" y="1805323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四大專利菌株</a:t>
            </a:r>
            <a:endParaRPr lang="en-US" altLang="zh-TW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r>
              <a:rPr lang="zh-TW" altLang="zh-TW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植物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乳</a:t>
            </a:r>
            <a:r>
              <a:rPr lang="zh-TW" altLang="zh-TW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桿菌</a:t>
            </a:r>
            <a:r>
              <a:rPr lang="en-US" altLang="zh-TW" i="1" dirty="0" smtClean="0">
                <a:latin typeface="標楷體" panose="03000509000000000000" pitchFamily="65" charset="-120"/>
                <a:cs typeface="Times New Roman" panose="02020603050405020304" pitchFamily="18" charset="0"/>
              </a:rPr>
              <a:t>Lactobacillus </a:t>
            </a:r>
            <a:r>
              <a:rPr lang="en-US" altLang="zh-TW" i="1" dirty="0" err="1">
                <a:latin typeface="標楷體" panose="03000509000000000000" pitchFamily="65" charset="-120"/>
                <a:cs typeface="Times New Roman" panose="02020603050405020304" pitchFamily="18" charset="0"/>
              </a:rPr>
              <a:t>plantarum</a:t>
            </a:r>
            <a:r>
              <a:rPr lang="en-US" altLang="zh-TW" dirty="0">
                <a:latin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標楷體" panose="03000509000000000000" pitchFamily="65" charset="-120"/>
                <a:cs typeface="Times New Roman" panose="02020603050405020304" pitchFamily="18" charset="0"/>
              </a:rPr>
              <a:t>LPL28</a:t>
            </a:r>
            <a:endParaRPr lang="en-US" altLang="zh-TW" dirty="0" smtClean="0"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唾液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乳</a:t>
            </a:r>
            <a:r>
              <a:rPr lang="zh-TW" altLang="zh-TW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桿菌</a:t>
            </a:r>
            <a:r>
              <a:rPr lang="en-US" altLang="zh-TW" i="1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Lactobacillus </a:t>
            </a:r>
            <a:r>
              <a:rPr lang="en-US" altLang="zh-TW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salivarius</a:t>
            </a:r>
            <a:r>
              <a:rPr lang="en-US" altLang="zh-TW" dirty="0"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AP-32</a:t>
            </a:r>
          </a:p>
          <a:p>
            <a:r>
              <a:rPr lang="zh-TW" altLang="zh-TW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鼠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李糖乳</a:t>
            </a:r>
            <a:r>
              <a:rPr lang="zh-TW" altLang="zh-TW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桿菌</a:t>
            </a:r>
            <a:r>
              <a:rPr lang="en-US" altLang="zh-TW" i="1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Lactobacillus </a:t>
            </a:r>
            <a:r>
              <a:rPr lang="en-US" altLang="zh-TW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rhamnosus</a:t>
            </a:r>
            <a:r>
              <a:rPr lang="en-US" altLang="zh-TW" dirty="0"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F-1</a:t>
            </a:r>
            <a:endParaRPr lang="en-US" altLang="zh-TW" dirty="0" smtClean="0">
              <a:cs typeface="Times New Roman" panose="02020603050405020304" pitchFamily="18" charset="0"/>
            </a:endParaRPr>
          </a:p>
          <a:p>
            <a:r>
              <a:rPr lang="zh-TW" altLang="zh-TW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動物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雙歧乳</a:t>
            </a:r>
            <a:r>
              <a:rPr lang="zh-TW" altLang="zh-TW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桿菌</a:t>
            </a:r>
            <a:r>
              <a:rPr lang="en-US" altLang="zh-TW" i="1" dirty="0" err="1">
                <a:cs typeface="Times New Roman" panose="02020603050405020304" pitchFamily="18" charset="0"/>
              </a:rPr>
              <a:t>Bifidobacterium</a:t>
            </a:r>
            <a:r>
              <a:rPr lang="en-US" altLang="zh-TW" i="1" dirty="0">
                <a:cs typeface="Times New Roman" panose="02020603050405020304" pitchFamily="18" charset="0"/>
              </a:rPr>
              <a:t> </a:t>
            </a:r>
            <a:r>
              <a:rPr lang="en-US" altLang="zh-TW" i="1" dirty="0" err="1">
                <a:cs typeface="Times New Roman" panose="02020603050405020304" pitchFamily="18" charset="0"/>
              </a:rPr>
              <a:t>animalis</a:t>
            </a:r>
            <a:r>
              <a:rPr lang="en-US" altLang="zh-TW" i="1" dirty="0">
                <a:cs typeface="Times New Roman" panose="02020603050405020304" pitchFamily="18" charset="0"/>
              </a:rPr>
              <a:t> subsp. </a:t>
            </a:r>
            <a:r>
              <a:rPr lang="en-US" altLang="zh-TW" i="1" dirty="0" err="1">
                <a:cs typeface="Times New Roman" panose="02020603050405020304" pitchFamily="18" charset="0"/>
              </a:rPr>
              <a:t>Lactis</a:t>
            </a:r>
            <a:r>
              <a:rPr lang="en-US" altLang="zh-TW" dirty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cs typeface="Times New Roman" panose="02020603050405020304" pitchFamily="18" charset="0"/>
              </a:rPr>
              <a:t>CP-9</a:t>
            </a:r>
          </a:p>
          <a:p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益生元 </a:t>
            </a:r>
            <a:endParaRPr lang="en-US" altLang="zh-TW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r>
              <a:rPr lang="zh-TW" altLang="en-US" dirty="0" smtClean="0"/>
              <a:t>異</a:t>
            </a:r>
            <a:r>
              <a:rPr lang="zh-TW" altLang="en-US" dirty="0"/>
              <a:t>麥芽寡醣</a:t>
            </a:r>
            <a:r>
              <a:rPr lang="en-US" altLang="zh-TW" dirty="0"/>
              <a:t>+</a:t>
            </a:r>
            <a:r>
              <a:rPr lang="zh-TW" altLang="en-US" dirty="0"/>
              <a:t>難消化麥芽糊精 </a:t>
            </a:r>
            <a:endParaRPr lang="en-US" altLang="zh-TW" dirty="0" smtClean="0"/>
          </a:p>
          <a:p>
            <a:r>
              <a:rPr lang="zh-TW" alt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後生</a:t>
            </a:r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元 </a:t>
            </a:r>
            <a:endParaRPr lang="en-US" altLang="zh-TW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r>
              <a:rPr lang="zh-TW" altLang="en-US" dirty="0" smtClean="0"/>
              <a:t>營養物質</a:t>
            </a:r>
            <a:r>
              <a:rPr lang="en-US" altLang="zh-TW" dirty="0" smtClean="0"/>
              <a:t>+</a:t>
            </a:r>
            <a:r>
              <a:rPr lang="zh-TW" altLang="en-US" dirty="0" smtClean="0"/>
              <a:t>益生元</a:t>
            </a:r>
            <a:r>
              <a:rPr lang="en-US" altLang="zh-TW" dirty="0" smtClean="0"/>
              <a:t>+</a:t>
            </a:r>
            <a:r>
              <a:rPr lang="zh-TW" altLang="en-US" dirty="0" smtClean="0"/>
              <a:t>益生菌</a:t>
            </a:r>
            <a:r>
              <a:rPr lang="en-US" altLang="zh-TW" dirty="0" smtClean="0"/>
              <a:t>+</a:t>
            </a:r>
            <a:r>
              <a:rPr lang="zh-TW" altLang="en-US" dirty="0" smtClean="0"/>
              <a:t>酵素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漢</a:t>
            </a:r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方 </a:t>
            </a:r>
            <a:endParaRPr lang="en-US" altLang="zh-TW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r>
              <a:rPr lang="zh-TW" altLang="en-US" dirty="0" smtClean="0"/>
              <a:t>山楂</a:t>
            </a:r>
            <a:r>
              <a:rPr lang="zh-TW" altLang="en-US" dirty="0"/>
              <a:t>、牛蒡、</a:t>
            </a:r>
            <a:r>
              <a:rPr lang="zh-TW" altLang="en-US" dirty="0" smtClean="0"/>
              <a:t>山藥</a:t>
            </a:r>
            <a:endParaRPr lang="en-US" altLang="zh-TW" dirty="0">
              <a:latin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40596" y="346693"/>
            <a:ext cx="25891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 smtClean="0"/>
              <a:t> </a:t>
            </a:r>
            <a:r>
              <a:rPr lang="en-US" altLang="zh-TW" sz="2400" dirty="0" smtClean="0"/>
              <a:t>2026</a:t>
            </a:r>
            <a:r>
              <a:rPr lang="zh-TW" altLang="en-US" sz="2400" dirty="0" smtClean="0"/>
              <a:t>       全新上市</a:t>
            </a:r>
            <a:endParaRPr lang="en-US" altLang="zh-TW" sz="2400" dirty="0" smtClean="0"/>
          </a:p>
        </p:txBody>
      </p:sp>
      <p:sp>
        <p:nvSpPr>
          <p:cNvPr id="7" name="矩形 6"/>
          <p:cNvSpPr/>
          <p:nvPr/>
        </p:nvSpPr>
        <p:spPr>
          <a:xfrm>
            <a:off x="3940596" y="799188"/>
            <a:ext cx="31738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err="1" smtClean="0"/>
              <a:t>UFLOW</a:t>
            </a:r>
            <a:r>
              <a:rPr lang="en-US" altLang="zh-TW" sz="2400" dirty="0" smtClean="0"/>
              <a:t>  </a:t>
            </a:r>
            <a:r>
              <a:rPr lang="zh-TW" altLang="en-US" sz="2400" dirty="0" smtClean="0"/>
              <a:t> 維他菌合生元</a:t>
            </a:r>
            <a:endParaRPr lang="en-US" altLang="zh-TW" sz="2400" dirty="0" smtClean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221" y="4259789"/>
            <a:ext cx="2350013" cy="55168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8690416" y="4934959"/>
            <a:ext cx="31213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安心 </a:t>
            </a:r>
            <a:r>
              <a:rPr lang="en-US" altLang="zh-TW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:</a:t>
            </a:r>
            <a:r>
              <a:rPr lang="zh-TW" altLang="en-US" dirty="0" smtClean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第三</a:t>
            </a:r>
            <a:r>
              <a:rPr lang="zh-TW" altLang="en-US" dirty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方</a:t>
            </a:r>
            <a:r>
              <a:rPr lang="zh-TW" altLang="en-US" dirty="0" smtClean="0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實驗室五項檢驗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7874974" y="346693"/>
            <a:ext cx="378349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2400" b="1" u="sng" kern="100" dirty="0">
                <a:solidFill>
                  <a:srgbClr val="0A0A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合生元</a:t>
            </a:r>
            <a:r>
              <a:rPr lang="en-US" altLang="zh-TW" sz="2400" kern="100" dirty="0">
                <a:solidFill>
                  <a:srgbClr val="0A0A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Times New Roman" panose="02020603050405020304" pitchFamily="18" charset="0"/>
              </a:rPr>
              <a:t> (</a:t>
            </a:r>
            <a:r>
              <a:rPr lang="en-US" altLang="zh-TW" sz="2400" kern="100" dirty="0" err="1">
                <a:solidFill>
                  <a:srgbClr val="0A0A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Times New Roman" panose="02020603050405020304" pitchFamily="18" charset="0"/>
              </a:rPr>
              <a:t>Synbiotics</a:t>
            </a:r>
            <a:r>
              <a:rPr lang="en-US" altLang="zh-TW" sz="2400" kern="100" dirty="0">
                <a:solidFill>
                  <a:srgbClr val="0A0A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Times New Roman" panose="02020603050405020304" pitchFamily="18" charset="0"/>
              </a:rPr>
              <a:t>) </a:t>
            </a:r>
            <a:endParaRPr lang="en-US" altLang="zh-TW" sz="2400" kern="100" dirty="0" smtClean="0">
              <a:solidFill>
                <a:srgbClr val="0A0A0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TW" altLang="en-US" kern="10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</a:t>
            </a:r>
            <a:r>
              <a:rPr lang="zh-TW" altLang="zh-TW" b="1" kern="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益生菌</a:t>
            </a:r>
            <a:r>
              <a:rPr lang="zh-TW" altLang="zh-TW" b="1" kern="1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與</a:t>
            </a:r>
            <a:r>
              <a:rPr lang="zh-TW" altLang="zh-TW" b="1" kern="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益生元</a:t>
            </a:r>
            <a:r>
              <a:rPr lang="zh-TW" altLang="en-US" b="1" kern="100" dirty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  <a:cs typeface="Arial" panose="020B0604020202020204" pitchFamily="34" charset="0"/>
              </a:rPr>
              <a:t>、後生元</a:t>
            </a:r>
            <a:r>
              <a:rPr lang="zh-TW" altLang="zh-TW" kern="1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結合，</a:t>
            </a:r>
            <a:endParaRPr lang="en-US" altLang="zh-TW" kern="100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en-US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並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添加</a:t>
            </a:r>
            <a:r>
              <a:rPr lang="zh-TW" altLang="zh-TW" kern="1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提升益生菌存活</a:t>
            </a:r>
            <a:r>
              <a:rPr lang="zh-TW" altLang="zh-TW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專利</a:t>
            </a:r>
            <a:r>
              <a:rPr lang="zh-TW" altLang="zh-TW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益萃質</a:t>
            </a:r>
            <a:r>
              <a:rPr lang="en-US" altLang="zh-TW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®</a:t>
            </a:r>
          </a:p>
          <a:p>
            <a:pPr>
              <a:spcAft>
                <a:spcPts val="0"/>
              </a:spcAft>
            </a:pPr>
            <a:r>
              <a:rPr lang="zh-TW" altLang="en-US" b="1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維持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細菌叢</a:t>
            </a:r>
            <a:r>
              <a:rPr lang="zh-TW" alt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停留體內的</a:t>
            </a:r>
            <a:r>
              <a:rPr lang="zh-TW" altLang="en-US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續航力</a:t>
            </a:r>
            <a:r>
              <a:rPr lang="zh-TW" altLang="en-US" kern="1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zh-TW" kern="100" dirty="0">
              <a:solidFill>
                <a:srgbClr val="FF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82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454</Words>
  <Application>Microsoft Office PowerPoint</Application>
  <PresentationFormat>寬螢幕</PresentationFormat>
  <Paragraphs>69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4" baseType="lpstr">
      <vt:lpstr>Noto Sans TC</vt:lpstr>
      <vt:lpstr>Noto Sans Variable</vt:lpstr>
      <vt:lpstr>SF Pro TC</vt:lpstr>
      <vt:lpstr>新細明體</vt:lpstr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WinSys</dc:creator>
  <cp:lastModifiedBy>WinSys</cp:lastModifiedBy>
  <cp:revision>18</cp:revision>
  <dcterms:created xsi:type="dcterms:W3CDTF">2026-01-15T08:48:08Z</dcterms:created>
  <dcterms:modified xsi:type="dcterms:W3CDTF">2026-01-15T12:10:00Z</dcterms:modified>
</cp:coreProperties>
</file>